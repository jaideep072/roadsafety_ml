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2926080" cy="347472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MACHINE LEARNING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99669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  <a:latin typeface="Segoe UI"/>
              </a:defRPr>
            </a:pPr>
            <a:r>
              <a:t>Road Safety Analytics &amp;</a:t>
            </a:r>
            <a:br/>
            <a:r>
              <a:t>Accident Severity Prediction</a:t>
            </a:r>
          </a:p>
          <a:p>
            <a:pPr>
              <a:defRPr sz="1400">
                <a:solidFill>
                  <a:srgbClr val="CBD5E1"/>
                </a:solidFill>
                <a:latin typeface="Segoe UI"/>
              </a:defRPr>
            </a:pPr>
            <a:r>
              <a:t>An End-to-End Machine Learning System with Three-Way Disjoint Partitioning (70/15/15),</a:t>
            </a:r>
            <a:br/>
            <a:r>
              <a:t>Supervised Ensembles, Geospatial Clustering, PCA, and Diagnostic Learning Curves.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43484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100,000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Incident Records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Nationwide Highway Sensor 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43484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70 : 15 : 15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Partition Discipline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Strict Train / Val / Test (Zero Leakage)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9" y="443484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6 Algorithms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Ensemble Benchmark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Decision Trees, Bagging &amp; Boosters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989320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Presenter: Yeswanth Sai   |   Dept. of Computer Science &amp; Engineering   |   Python • Scikit-Learn • 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Executive Overview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Transforming highway sensor telemetry into actionable real-time emergency triage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02920"/>
            <a:ext cx="1858975" cy="384048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PROJECT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6636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73352"/>
            <a:ext cx="1005840" cy="219456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11D48"/>
                </a:solidFill>
                <a:latin typeface="Segoe UI"/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47672"/>
            <a:ext cx="4709160" cy="4315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The Real-World Highway Challenge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E11D48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Critical Life &amp; Economic Toll: </a:t>
            </a:r>
            <a:r>
              <a:rPr>
                <a:solidFill>
                  <a:srgbClr val="334155"/>
                </a:solidFill>
              </a:rPr>
              <a:t>Motor vehicle collisions inflict catastrophic human loss and severe infrastructural gridlock across US highway networks.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E11D48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Emergency Triage Bottleneck: </a:t>
            </a:r>
            <a:r>
              <a:rPr>
                <a:solidFill>
                  <a:srgbClr val="334155"/>
                </a:solidFill>
              </a:rPr>
              <a:t>First responders require instantaneous accident severity prediction at the moment of impact to dispatch right-sized rescue teams.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E11D48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Complex Environmental Dynamics: </a:t>
            </a:r>
            <a:r>
              <a:rPr>
                <a:solidFill>
                  <a:srgbClr val="334155"/>
                </a:solidFill>
              </a:rPr>
              <a:t>Sub-freezing temperatures, reduced visibility, and highway junctions multiply accident severity non-linearly.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E11D48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Core Engineering Objective: </a:t>
            </a:r>
            <a:r>
              <a:rPr>
                <a:solidFill>
                  <a:srgbClr val="334155"/>
                </a:solidFill>
              </a:rPr>
              <a:t>Develop an automated classifier separating Minor (Levels 1-2) from Severe (Levels 3-4) incidents in real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16636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1673352"/>
            <a:ext cx="1005840" cy="219456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47672"/>
            <a:ext cx="4709160" cy="4315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Machine Learning Solution Architecture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Nationwide 100k Telemetry: </a:t>
            </a:r>
            <a:r>
              <a:rPr>
                <a:solidFill>
                  <a:srgbClr val="334155"/>
                </a:solidFill>
              </a:rPr>
              <a:t>Evaluated on 100,000 real-world highway incidents with balanced severe/minor accident stratification.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Zero Data Leakage Discipline: </a:t>
            </a:r>
            <a:r>
              <a:rPr>
                <a:solidFill>
                  <a:srgbClr val="334155"/>
                </a:solidFill>
              </a:rPr>
              <a:t>Strict 3-way disjoint partitioning (70% Train, 15% Val, 15% Test) guarantees unbiased real-world generalization.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Multi-Model Ensemble Benchmark: </a:t>
            </a:r>
            <a:r>
              <a:rPr>
                <a:solidFill>
                  <a:srgbClr val="334155"/>
                </a:solidFill>
              </a:rPr>
              <a:t>Trained 6 distinct supervised algorithms including Decision Trees, Bagging, Random Forest, AdaBoost, and LightGBM.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Unsupervised &amp; Diagnostic Tools: </a:t>
            </a:r>
            <a:r>
              <a:rPr>
                <a:solidFill>
                  <a:srgbClr val="334155"/>
                </a:solidFill>
              </a:rPr>
              <a:t>Integrated K-Means spatial clustering, PCA variance decomposition, and empirical learning curves for capacity tuning.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DATA HYGIENE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Three-Way Disjoint Partitioning (Zero Data Leakage)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Ensuring complete isolation of statistics across training, hyperparameter tuning, and test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02920"/>
            <a:ext cx="1858975" cy="384048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PARTITIONING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6636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73352"/>
            <a:ext cx="1005840" cy="219456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293B"/>
                </a:solidFill>
                <a:latin typeface="Segoe UI"/>
              </a:defRPr>
            </a:pPr>
            <a:r>
              <a:t>DISCIPLINE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47672"/>
            <a:ext cx="4709160" cy="4315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Strict Partitioning Protocols</a:t>
            </a:r>
          </a:p>
          <a:p>
            <a:pPr>
              <a:spcAft>
                <a:spcPts val="500"/>
              </a:spcAft>
              <a:defRPr sz="950">
                <a:latin typeface="Segoe UI"/>
              </a:defRPr>
            </a:pPr>
            <a:r>
              <a:rPr sz="750" b="1">
                <a:solidFill>
                  <a:srgbClr val="1E293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100k Record Dataset: </a:t>
            </a:r>
            <a:r>
              <a:rPr>
                <a:solidFill>
                  <a:srgbClr val="334155"/>
                </a:solidFill>
              </a:rPr>
              <a:t>Extracted 100,000 verified accident events across contiguous US interstate highways.</a:t>
            </a:r>
          </a:p>
          <a:p>
            <a:pPr>
              <a:spcAft>
                <a:spcPts val="500"/>
              </a:spcAft>
              <a:defRPr sz="950">
                <a:latin typeface="Segoe UI"/>
              </a:defRPr>
            </a:pPr>
            <a:r>
              <a:rPr sz="750" b="1">
                <a:solidFill>
                  <a:srgbClr val="1E293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Classification Formulation: </a:t>
            </a:r>
            <a:r>
              <a:rPr>
                <a:solidFill>
                  <a:srgbClr val="334155"/>
                </a:solidFill>
              </a:rPr>
              <a:t>Binary target: Severe (Levels 3 &amp; 4 = 1) vs. Minor (Levels 1 &amp; 2 = 0) with 50/50 stratification.</a:t>
            </a:r>
          </a:p>
          <a:p>
            <a:pPr>
              <a:spcAft>
                <a:spcPts val="500"/>
              </a:spcAft>
              <a:defRPr sz="950">
                <a:latin typeface="Segoe UI"/>
              </a:defRPr>
            </a:pPr>
            <a:r>
              <a:rPr sz="750" b="1">
                <a:solidFill>
                  <a:srgbClr val="1E293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Continuous Target: </a:t>
            </a:r>
            <a:r>
              <a:rPr>
                <a:solidFill>
                  <a:srgbClr val="334155"/>
                </a:solidFill>
              </a:rPr>
              <a:t>Distance(mi) modeled as continuous impact corridor length for traffic disruption estimation.</a:t>
            </a:r>
          </a:p>
          <a:p>
            <a:pPr>
              <a:spcAft>
                <a:spcPts val="500"/>
              </a:spcAft>
              <a:defRPr sz="950">
                <a:latin typeface="Segoe UI"/>
              </a:defRPr>
            </a:pPr>
            <a:r>
              <a:rPr sz="750" b="1">
                <a:solidFill>
                  <a:srgbClr val="1E293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Post-Crash Quarantine: </a:t>
            </a:r>
            <a:r>
              <a:rPr>
                <a:solidFill>
                  <a:srgbClr val="334155"/>
                </a:solidFill>
              </a:rPr>
              <a:t>Quarantined post-accident metadata (End_Time, text descriptions) to completely prevent lookahead bias.</a:t>
            </a:r>
          </a:p>
          <a:p>
            <a:pPr>
              <a:spcAft>
                <a:spcPts val="500"/>
              </a:spcAft>
              <a:defRPr sz="950">
                <a:latin typeface="Segoe UI"/>
              </a:defRPr>
            </a:pPr>
            <a:r>
              <a:rPr sz="750" b="1">
                <a:solidFill>
                  <a:srgbClr val="1E293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Zero Data Leakage Rule: </a:t>
            </a:r>
            <a:r>
              <a:rPr>
                <a:solidFill>
                  <a:srgbClr val="334155"/>
                </a:solidFill>
              </a:rPr>
              <a:t>Imputation medians and StandardScaler parameters (μ, σ) are computed SOLELY on the Training fold.</a:t>
            </a:r>
          </a:p>
          <a:p>
            <a:pPr>
              <a:spcAft>
                <a:spcPts val="500"/>
              </a:spcAft>
              <a:defRPr sz="950">
                <a:latin typeface="Segoe UI"/>
              </a:defRPr>
            </a:pPr>
            <a:r>
              <a:rPr sz="750" b="1">
                <a:solidFill>
                  <a:srgbClr val="1E293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Generalization Guarantee: </a:t>
            </a:r>
            <a:r>
              <a:rPr>
                <a:solidFill>
                  <a:srgbClr val="334155"/>
                </a:solidFill>
              </a:rPr>
              <a:t>Hyperparameters tuned exclusively on Validation; final scores verified on untouched Test 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166360" cy="1508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1673352"/>
            <a:ext cx="1005840" cy="219456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47672"/>
            <a:ext cx="470916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1. Training Partition — 70% (70,000 Records)</a:t>
            </a:r>
          </a:p>
          <a:p>
            <a:pPr>
              <a:spcAft>
                <a:spcPts val="800"/>
              </a:spcAft>
              <a:defRPr sz="105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Parameter Learning: </a:t>
            </a:r>
            <a:r>
              <a:rPr>
                <a:solidFill>
                  <a:srgbClr val="334155"/>
                </a:solidFill>
              </a:rPr>
              <a:t>Estimates linear weights, logistic log-odds coefficients, and decision tree split criteria.</a:t>
            </a:r>
          </a:p>
          <a:p>
            <a:pPr>
              <a:spcAft>
                <a:spcPts val="800"/>
              </a:spcAft>
              <a:defRPr sz="105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Feature Transformations: </a:t>
            </a:r>
            <a:r>
              <a:rPr>
                <a:solidFill>
                  <a:srgbClr val="334155"/>
                </a:solidFill>
              </a:rPr>
              <a:t>StandardScaler fits mean μ and std σ here only; never borrows from validation/test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200400"/>
            <a:ext cx="5166360" cy="1508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3364992"/>
            <a:ext cx="1005840" cy="219456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  <a:latin typeface="Segoe UI"/>
              </a:defRPr>
            </a:pPr>
            <a: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639312"/>
            <a:ext cx="470916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2. Validation Partition — 15% (15,000 Records)</a:t>
            </a:r>
          </a:p>
          <a:p>
            <a:pPr>
              <a:spcAft>
                <a:spcPts val="800"/>
              </a:spcAft>
              <a:defRPr sz="1050">
                <a:latin typeface="Segoe UI"/>
              </a:defRPr>
            </a:pPr>
            <a:r>
              <a:rPr sz="750" b="1">
                <a:solidFill>
                  <a:srgbClr val="D97706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Hyperparameter Tuning: </a:t>
            </a:r>
            <a:r>
              <a:rPr>
                <a:solidFill>
                  <a:srgbClr val="334155"/>
                </a:solidFill>
              </a:rPr>
              <a:t>Guides selection of tree capacity (max_depth 2 to 14) and regularization penalties (L1 / L2).</a:t>
            </a:r>
          </a:p>
          <a:p>
            <a:pPr>
              <a:spcAft>
                <a:spcPts val="800"/>
              </a:spcAft>
              <a:defRPr sz="1050">
                <a:latin typeface="Segoe UI"/>
              </a:defRPr>
            </a:pPr>
            <a:r>
              <a:rPr sz="750" b="1">
                <a:solidFill>
                  <a:srgbClr val="D97706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Overfitting Detection: </a:t>
            </a:r>
            <a:r>
              <a:rPr>
                <a:solidFill>
                  <a:srgbClr val="334155"/>
                </a:solidFill>
              </a:rPr>
              <a:t>Monitors generalization gap Δ(N) = S_train - S_val to prevent memorization of noise.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892040"/>
            <a:ext cx="5166360" cy="1508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5056632"/>
            <a:ext cx="1005840" cy="219456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330952"/>
            <a:ext cx="470916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3. Vault-Locked Test Partition — 15% (15,000 Records)</a:t>
            </a:r>
          </a:p>
          <a:p>
            <a:pPr>
              <a:spcAft>
                <a:spcPts val="800"/>
              </a:spcAft>
              <a:defRPr sz="1050">
                <a:latin typeface="Segoe UI"/>
              </a:defRPr>
            </a:pPr>
            <a:r>
              <a:rPr sz="750" b="1">
                <a:solidFill>
                  <a:srgbClr val="10B981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Unbiased Evaluation: </a:t>
            </a:r>
            <a:r>
              <a:rPr>
                <a:solidFill>
                  <a:srgbClr val="334155"/>
                </a:solidFill>
              </a:rPr>
              <a:t>Evaluated strictly ONCE after all architecture decisions and hyperparameters are frozen.</a:t>
            </a:r>
          </a:p>
          <a:p>
            <a:pPr>
              <a:spcAft>
                <a:spcPts val="800"/>
              </a:spcAft>
              <a:defRPr sz="1050">
                <a:latin typeface="Segoe UI"/>
              </a:defRPr>
            </a:pPr>
            <a:r>
              <a:rPr sz="750" b="1">
                <a:solidFill>
                  <a:srgbClr val="10B981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Real-World Deployment Proxy: </a:t>
            </a:r>
            <a:r>
              <a:rPr>
                <a:solidFill>
                  <a:srgbClr val="334155"/>
                </a:solidFill>
              </a:rPr>
              <a:t>Simulates future unseen highway conditions with zero contamination.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Exploratory Data Analysis: Key Risk Determinants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Uncovering critical correlations, diurnal crash peaks, and road fixture severity multipliers.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02920"/>
            <a:ext cx="1858975" cy="384048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EDA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6636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73352"/>
            <a:ext cx="1005840" cy="219456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  <a:latin typeface="Segoe UI"/>
              </a:defRPr>
            </a:pPr>
            <a:r>
              <a:t>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47672"/>
            <a:ext cx="4709160" cy="4315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Empirical Risk Findings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06B6D4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Atmospheric Interaction: </a:t>
            </a:r>
            <a:r>
              <a:rPr>
                <a:solidFill>
                  <a:srgbClr val="334155"/>
                </a:solidFill>
              </a:rPr>
              <a:t>Visibility under 1.5 miles combined with sub-freezing temperatures increases severe crash likelihood by 140%.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06B6D4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Physical Infrastructure: </a:t>
            </a:r>
            <a:r>
              <a:rPr>
                <a:solidFill>
                  <a:srgbClr val="334155"/>
                </a:solidFill>
              </a:rPr>
              <a:t>Highway Junctions and Traffic Signals emerge as the single largest physical accident hotspots.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06B6D4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Diurnal Commute Spikes: </a:t>
            </a:r>
            <a:r>
              <a:rPr>
                <a:solidFill>
                  <a:srgbClr val="334155"/>
                </a:solidFill>
              </a:rPr>
              <a:t>Accident frequency peaks during morning (7–9 AM) and evening (4–7 PM) rush hours; nocturnal crashes exhibit higher fatality rates.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06B6D4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Multicollinearity Challenge: </a:t>
            </a:r>
            <a:r>
              <a:rPr>
                <a:solidFill>
                  <a:srgbClr val="334155"/>
                </a:solidFill>
              </a:rPr>
              <a:t>High cross-correlation identified between Temperature, Humidity, and Atmospheric Pressure.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06B6D4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Engineering Rationale: </a:t>
            </a:r>
            <a:r>
              <a:rPr>
                <a:solidFill>
                  <a:srgbClr val="334155"/>
                </a:solidFill>
              </a:rPr>
              <a:t>Collinearity in continuous features motivated the application of Principal Component Analysis (PCA) to orthogonalize predictors.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1663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581912"/>
            <a:ext cx="48737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Atmospheric Telemetry Correlation Matrix</a:t>
            </a:r>
          </a:p>
        </p:txBody>
      </p:sp>
      <p:pic>
        <p:nvPicPr>
          <p:cNvPr id="13" name="Picture 1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874520"/>
            <a:ext cx="4910328" cy="168249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91656" y="3593592"/>
            <a:ext cx="4910328" cy="219456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>
                <a:solidFill>
                  <a:srgbClr val="2563EB"/>
                </a:solidFill>
                <a:latin typeface="Segoe UI"/>
              </a:defRPr>
            </a:pPr>
            <a:r>
              <a:t>Takeaway: High collinearity between Temperature, Humidity &amp; Pressure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023360"/>
            <a:ext cx="51663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4096512"/>
            <a:ext cx="48737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Accident Severity Class Distribution</a:t>
            </a:r>
          </a:p>
        </p:txBody>
      </p:sp>
      <p:pic>
        <p:nvPicPr>
          <p:cNvPr id="17" name="Picture 16" descr="severity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4389120"/>
            <a:ext cx="4910328" cy="168249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391656" y="6108192"/>
            <a:ext cx="4910328" cy="219456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>
                <a:solidFill>
                  <a:srgbClr val="2563EB"/>
                </a:solidFill>
                <a:latin typeface="Segoe UI"/>
              </a:defRPr>
            </a:pPr>
            <a:r>
              <a:t>Takeaway: Stratified sampling applied to preserve exact class balance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Data Preprocessing &amp; Feature Engineering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Systematic data sanitization, outlier treatment, and feature representation.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02920"/>
            <a:ext cx="1858975" cy="384048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6636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73352"/>
            <a:ext cx="1408176" cy="219456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TRANSFORMATION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47672"/>
            <a:ext cx="4709160" cy="4315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5-Stage Transformation Pipeline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Redundant Column Pruning: </a:t>
            </a:r>
            <a:r>
              <a:rPr>
                <a:solidFill>
                  <a:srgbClr val="334155"/>
                </a:solidFill>
              </a:rPr>
              <a:t>Dropped End_Lat, End_Lng, and Airport_Code to prevent mathematical multicollinearity and dimensional singularity.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Leakage-Free Imputation: </a:t>
            </a:r>
            <a:r>
              <a:rPr>
                <a:solidFill>
                  <a:srgbClr val="334155"/>
                </a:solidFill>
              </a:rPr>
              <a:t>Employed Median Imputation computed solely on Training data, preserving 100% of usable incident rows without data loss.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IQR Outlier Capping: </a:t>
            </a:r>
            <a:r>
              <a:rPr>
                <a:solidFill>
                  <a:srgbClr val="334155"/>
                </a:solidFill>
              </a:rPr>
              <a:t>Applied 1.5× Interquartile Range winsorization to sensor extremes, mitigating distorting sensor spikes without discarding events.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Categorical Encoding: </a:t>
            </a:r>
            <a:r>
              <a:rPr>
                <a:solidFill>
                  <a:srgbClr val="334155"/>
                </a:solidFill>
              </a:rPr>
              <a:t>One-Hot Encoded weather conditions (Clear, Rain, Snow, Fog) and binary-encoded 12 road fixtures (Crossing, Junction, Signal).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StandardScaler Transformation: </a:t>
            </a:r>
            <a:r>
              <a:rPr>
                <a:solidFill>
                  <a:srgbClr val="334155"/>
                </a:solidFill>
              </a:rPr>
              <a:t>Standardized continuous sensor predictors (μ=0, σ=1) to ensure uniform convergence in gradient and distance algorithms.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166360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581912"/>
            <a:ext cx="48737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Sensor Telemetry Completeness &amp; Imputation</a:t>
            </a:r>
          </a:p>
        </p:txBody>
      </p:sp>
      <p:pic>
        <p:nvPicPr>
          <p:cNvPr id="13" name="Picture 12" descr="missing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874520"/>
            <a:ext cx="4910328" cy="419709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91656" y="6108192"/>
            <a:ext cx="4910328" cy="219456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>
                <a:solidFill>
                  <a:srgbClr val="2563EB"/>
                </a:solidFill>
                <a:latin typeface="Segoe UI"/>
              </a:defRPr>
            </a:pPr>
            <a:r>
              <a:t>Takeaway: Median imputation successfully retained 100k events across all weather channels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SUPERVISED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Linear &amp; Logistic Regression: Regularization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Modeling crash impact corridor distance and estimating calibrated severity probabilities.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02920"/>
            <a:ext cx="1858975" cy="384048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REGRESSION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6636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73352"/>
            <a:ext cx="1609344" cy="219456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  <a:latin typeface="Segoe UI"/>
              </a:defRPr>
            </a:pPr>
            <a:r>
              <a:t>INTERPRETABILITY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47672"/>
            <a:ext cx="4709160" cy="4315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Regression Modeling &amp; Odds Analysis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D97706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Corridor Distance Regression: </a:t>
            </a:r>
            <a:r>
              <a:rPr>
                <a:solidFill>
                  <a:srgbClr val="334155"/>
                </a:solidFill>
              </a:rPr>
              <a:t>Modeled total traffic disruption length Distance(mi) using OLS, Ridge (L2), and Lasso (L1).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D97706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L1 Feature Sparsity (Lasso): </a:t>
            </a:r>
            <a:r>
              <a:rPr>
                <a:solidFill>
                  <a:srgbClr val="334155"/>
                </a:solidFill>
              </a:rPr>
              <a:t>L1 regularization drove uninformative feature weights strictly to 0.0, validating automated feature selection.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D97706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L2 Variance Shrinkage (Ridge): </a:t>
            </a:r>
            <a:r>
              <a:rPr>
                <a:solidFill>
                  <a:srgbClr val="334155"/>
                </a:solidFill>
              </a:rPr>
              <a:t>Ridge penalty controlled coefficient inflation from collinear atmospheric sensors, stabilizing test R².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D97706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Logistic Severity Classification: </a:t>
            </a:r>
            <a:r>
              <a:rPr>
                <a:solidFill>
                  <a:srgbClr val="334155"/>
                </a:solidFill>
              </a:rPr>
              <a:t>Calibrated log-odds P(Severe) = 1 / (1 + e^(-z)) separating Minor vs. Severe incidents.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D97706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Odds Ratio Risk Interpretability: </a:t>
            </a:r>
            <a:r>
              <a:rPr>
                <a:solidFill>
                  <a:srgbClr val="334155"/>
                </a:solidFill>
              </a:rPr>
              <a:t>Highway Junctions feature coefficient yielded an Odds Ratio &gt; 2.8, cementing it as the top structural risk driver.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1663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581912"/>
            <a:ext cx="48737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Linear Regression: Actual vs. Predicted Distance</a:t>
            </a:r>
          </a:p>
        </p:txBody>
      </p:sp>
      <p:pic>
        <p:nvPicPr>
          <p:cNvPr id="13" name="Picture 12" descr="lr_actual_pred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874520"/>
            <a:ext cx="4910328" cy="168249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91656" y="3593592"/>
            <a:ext cx="4910328" cy="219456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>
                <a:solidFill>
                  <a:srgbClr val="2563EB"/>
                </a:solidFill>
                <a:latin typeface="Segoe UI"/>
              </a:defRPr>
            </a:pPr>
            <a:r>
              <a:t>Takeaway: Models traffic disruption corridor length in miles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023360"/>
            <a:ext cx="51663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4096512"/>
            <a:ext cx="48737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Logistic Regression Confusion Matrix</a:t>
            </a:r>
          </a:p>
        </p:txBody>
      </p:sp>
      <p:pic>
        <p:nvPicPr>
          <p:cNvPr id="17" name="Picture 16" descr="log_cm_n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4389120"/>
            <a:ext cx="4910328" cy="168249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391656" y="6108192"/>
            <a:ext cx="4910328" cy="219456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>
                <a:solidFill>
                  <a:srgbClr val="2563EB"/>
                </a:solidFill>
                <a:latin typeface="Segoe UI"/>
              </a:defRPr>
            </a:pPr>
            <a:r>
              <a:t>Takeaway: Zero evaluation leakage on 15,000 vault-locked test incidents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SUPERVISED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Decision Trees &amp; Ensemble Leaderboard (6 Architectures)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Benchmarking tree criteria, bagging variance reduction, and boosting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02920"/>
            <a:ext cx="1858975" cy="384048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LEADERBOARD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6636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73352"/>
            <a:ext cx="1005840" cy="219456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47672"/>
            <a:ext cx="4709160" cy="4315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Multi-Model Ensemble Benchmark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10B981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6 Architectures Evaluated: </a:t>
            </a:r>
            <a:r>
              <a:rPr>
                <a:solidFill>
                  <a:srgbClr val="334155"/>
                </a:solidFill>
              </a:rPr>
              <a:t>Single Decision Tree (ID3 / CART / C4.5), Bagging, Random Forest, AdaBoost, XGBoost, and LightGBM.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10B981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Variance Reduction via Bagging: </a:t>
            </a:r>
            <a:r>
              <a:rPr>
                <a:solidFill>
                  <a:srgbClr val="334155"/>
                </a:solidFill>
              </a:rPr>
              <a:t>Bootstrap aggregation across decorrelated decision trees significantly reduced generalization variance.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10B981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Sequential Boosting: </a:t>
            </a:r>
            <a:r>
              <a:rPr>
                <a:solidFill>
                  <a:srgbClr val="334155"/>
                </a:solidFill>
              </a:rPr>
              <a:t>Gradient boosting focused learning on hard-to-classify borderline weather accidents, boosting recall.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10B981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Dominant Split Determinants: </a:t>
            </a:r>
            <a:r>
              <a:rPr>
                <a:solidFill>
                  <a:srgbClr val="334155"/>
                </a:solidFill>
              </a:rPr>
              <a:t>Gini / Information Gain metrics confirmed Ambient Temperature, Visibility, and Junctions as top split nodes.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10B981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Champion Model: </a:t>
            </a:r>
            <a:r>
              <a:rPr>
                <a:solidFill>
                  <a:srgbClr val="334155"/>
                </a:solidFill>
              </a:rPr>
              <a:t>Random Forest and LightGBM achieved superior balance between severe crash precision and recall on test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25146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581912"/>
            <a:ext cx="22219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Test Confusion Matrix</a:t>
            </a:r>
          </a:p>
        </p:txBody>
      </p:sp>
      <p:pic>
        <p:nvPicPr>
          <p:cNvPr id="13" name="Picture 12" descr="dt_cm_i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874520"/>
            <a:ext cx="2258568" cy="168249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91656" y="3593592"/>
            <a:ext cx="2258568" cy="219456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>
                <a:solidFill>
                  <a:srgbClr val="2563EB"/>
                </a:solidFill>
                <a:latin typeface="Segoe UI"/>
              </a:defRPr>
            </a:pPr>
            <a:r>
              <a:t>Takeaway: Severe vs. Minor classification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508760"/>
            <a:ext cx="25146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1704" y="1581912"/>
            <a:ext cx="22219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Feature Importance</a:t>
            </a:r>
          </a:p>
        </p:txBody>
      </p:sp>
      <p:pic>
        <p:nvPicPr>
          <p:cNvPr id="17" name="Picture 16" descr="dt_imp_i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416" y="1874520"/>
            <a:ext cx="2258568" cy="168249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043416" y="3593592"/>
            <a:ext cx="2258568" cy="219456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>
                <a:solidFill>
                  <a:srgbClr val="2563EB"/>
                </a:solidFill>
                <a:latin typeface="Segoe UI"/>
              </a:defRPr>
            </a:pPr>
            <a:r>
              <a:t>Takeaway: Relative split importance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023360"/>
            <a:ext cx="51663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4096512"/>
            <a:ext cx="48737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Visual Decision Tree Hierarchy</a:t>
            </a:r>
          </a:p>
        </p:txBody>
      </p:sp>
      <p:pic>
        <p:nvPicPr>
          <p:cNvPr id="21" name="Picture 20" descr="dt_tree_i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4389120"/>
            <a:ext cx="4910328" cy="1682496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391656" y="6108192"/>
            <a:ext cx="4910328" cy="219456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>
                <a:solidFill>
                  <a:srgbClr val="2563EB"/>
                </a:solidFill>
                <a:latin typeface="Segoe UI"/>
              </a:defRPr>
            </a:pPr>
            <a:r>
              <a:t>Takeaway: Hierarchical decision rules on atmospheric and road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UNSUPERVISED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Spatial Clustering &amp; Highway Blackspot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Discovering geographic accident density clusters and highway blackspots.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02920"/>
            <a:ext cx="1858975" cy="384048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CLUSTERING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6636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73352"/>
            <a:ext cx="1609344" cy="219456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  <a:latin typeface="Segoe UI"/>
              </a:defRPr>
            </a:pPr>
            <a:r>
              <a:t>SPATIAL CLUSTERS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47672"/>
            <a:ext cx="4709160" cy="4315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Geospatial Density Analytics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06B6D4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K-Means Inertia Optimization: </a:t>
            </a:r>
            <a:r>
              <a:rPr>
                <a:solidFill>
                  <a:srgbClr val="334155"/>
                </a:solidFill>
              </a:rPr>
              <a:t>Evaluated Within-Cluster Sum of Squares (WCSS) across K=2 to 8. The Elbow Curve clearly confirms K=4 as the optimal inflection.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06B6D4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Hierarchical Ward Linkage: </a:t>
            </a:r>
            <a:r>
              <a:rPr>
                <a:solidFill>
                  <a:srgbClr val="334155"/>
                </a:solidFill>
              </a:rPr>
              <a:t>Agglomerative clustering dendrogram validates natural highway accident groupings across interstate corridors.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06B6D4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DBSCAN Density Clustering: </a:t>
            </a:r>
            <a:r>
              <a:rPr>
                <a:solidFill>
                  <a:srgbClr val="334155"/>
                </a:solidFill>
              </a:rPr>
              <a:t>Eliminates sparse highway noise and isolates irregular high-density accident blackspot clusters.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06B6D4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Knee Method for DBSCAN: </a:t>
            </a:r>
            <a:r>
              <a:rPr>
                <a:solidFill>
                  <a:srgbClr val="334155"/>
                </a:solidFill>
              </a:rPr>
              <a:t>Sorted k-nearest-neighbor distance curve automatically determines optimal epsilon threshold.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06B6D4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Practical Highway Utility: </a:t>
            </a:r>
            <a:r>
              <a:rPr>
                <a:solidFill>
                  <a:srgbClr val="334155"/>
                </a:solidFill>
              </a:rPr>
              <a:t>Allows emergency response agencies to pre-position ambulances and patrols at high-risk cluster centroids.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1663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581912"/>
            <a:ext cx="48737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K-Means Elbow Method (WCSS vs. K)</a:t>
            </a:r>
          </a:p>
        </p:txBody>
      </p:sp>
      <p:pic>
        <p:nvPicPr>
          <p:cNvPr id="13" name="Picture 12" descr="kmeans_elbow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874520"/>
            <a:ext cx="4910328" cy="168249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91656" y="3593592"/>
            <a:ext cx="4910328" cy="219456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>
                <a:solidFill>
                  <a:srgbClr val="2563EB"/>
                </a:solidFill>
                <a:latin typeface="Segoe UI"/>
              </a:defRPr>
            </a:pPr>
            <a:r>
              <a:t>Takeaway: Elbow inflection point clearly establishes K=4 clusters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023360"/>
            <a:ext cx="51663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4096512"/>
            <a:ext cx="48737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Geospatial Cluster Centroids (K=4)</a:t>
            </a:r>
          </a:p>
        </p:txBody>
      </p:sp>
      <p:pic>
        <p:nvPicPr>
          <p:cNvPr id="17" name="Picture 16" descr="kmeans_clusters_k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4389120"/>
            <a:ext cx="4910328" cy="168249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391656" y="6108192"/>
            <a:ext cx="4910328" cy="219456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>
                <a:solidFill>
                  <a:srgbClr val="2563EB"/>
                </a:solidFill>
                <a:latin typeface="Segoe UI"/>
              </a:defRPr>
            </a:pPr>
            <a:r>
              <a:t>Takeaway: Accident density partitioned across regional highway networks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UNSUPERVISED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Principal Component Analysis (PCA)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Covariance decomposition, scree plot variance retention, and collinearity elimination.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02920"/>
            <a:ext cx="1858975" cy="384048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PCA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66360" cy="27432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73352"/>
            <a:ext cx="1408176" cy="219456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DIMENSIONALITY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47672"/>
            <a:ext cx="4709160" cy="2167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PCA Formulation &amp; Variance Decomposition</a:t>
            </a:r>
          </a:p>
          <a:p>
            <a:pPr>
              <a:spcAft>
                <a:spcPts val="800"/>
              </a:spcAft>
              <a:defRPr sz="105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Feature Standardization: </a:t>
            </a:r>
            <a:r>
              <a:rPr>
                <a:solidFill>
                  <a:srgbClr val="334155"/>
                </a:solidFill>
              </a:rPr>
              <a:t>StandardScaler applied prior to PCA so scale differences (Pressure vs. Temp) do not distort eigenvalues.</a:t>
            </a:r>
          </a:p>
          <a:p>
            <a:pPr>
              <a:spcAft>
                <a:spcPts val="800"/>
              </a:spcAft>
              <a:defRPr sz="105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Orthogonal Eigenvectors: </a:t>
            </a:r>
            <a:r>
              <a:rPr>
                <a:solidFill>
                  <a:srgbClr val="334155"/>
                </a:solidFill>
              </a:rPr>
              <a:t>Computed eigenvectors of the covariance matrix Cov(X)v = λv to establish perfectly uncorrelated axes (Cov(PC_i, PC_j) = 0).</a:t>
            </a:r>
          </a:p>
          <a:p>
            <a:pPr>
              <a:spcAft>
                <a:spcPts val="800"/>
              </a:spcAft>
              <a:defRPr sz="105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Scree Plot Analysis: </a:t>
            </a:r>
            <a:r>
              <a:rPr>
                <a:solidFill>
                  <a:srgbClr val="334155"/>
                </a:solidFill>
              </a:rPr>
              <a:t>The Scree Plot demonstrates that PC1 + PC2 capture over 65% of the total atmospheric variance across 5 sensor dimensions.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5166360" cy="2011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4553712"/>
            <a:ext cx="1307592" cy="219456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  <a:latin typeface="Segoe UI"/>
              </a:defRPr>
            </a:pPr>
            <a:r>
              <a:t>VIVA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828032"/>
            <a:ext cx="4709160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Viva Defense: Why Doesn't Accuracy Always Increase with PCA?</a:t>
            </a:r>
          </a:p>
          <a:p>
            <a:pPr>
              <a:spcAft>
                <a:spcPts val="800"/>
              </a:spcAft>
              <a:defRPr sz="1050">
                <a:latin typeface="Segoe UI"/>
              </a:defRPr>
            </a:pPr>
            <a:r>
              <a:rPr sz="750" b="1">
                <a:solidFill>
                  <a:srgbClr val="D97706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Unsupervised / Target-Blind: </a:t>
            </a:r>
            <a:r>
              <a:rPr>
                <a:solidFill>
                  <a:srgbClr val="334155"/>
                </a:solidFill>
              </a:rPr>
              <a:t>PCA maximizes variance of X without knowledge of the target label y (Severity).</a:t>
            </a:r>
          </a:p>
          <a:p>
            <a:pPr>
              <a:spcAft>
                <a:spcPts val="800"/>
              </a:spcAft>
              <a:defRPr sz="1050">
                <a:latin typeface="Segoe UI"/>
              </a:defRPr>
            </a:pPr>
            <a:r>
              <a:rPr sz="750" b="1">
                <a:solidFill>
                  <a:srgbClr val="D97706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Information Loss in 2D: </a:t>
            </a:r>
            <a:r>
              <a:rPr>
                <a:solidFill>
                  <a:srgbClr val="334155"/>
                </a:solidFill>
              </a:rPr>
              <a:t>Retaining only 2 components discards ~35% variance. PCA's true value is eliminating multicollinearity and enabling 2D visualization!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51663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581912"/>
            <a:ext cx="48737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PCA Scree Plot (Elbow &amp; Cumulative Variance)</a:t>
            </a:r>
          </a:p>
        </p:txBody>
      </p:sp>
      <p:pic>
        <p:nvPicPr>
          <p:cNvPr id="16" name="Picture 15" descr="pca_scre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874520"/>
            <a:ext cx="4910328" cy="168249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391656" y="3593592"/>
            <a:ext cx="4910328" cy="219456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>
                <a:solidFill>
                  <a:srgbClr val="2563EB"/>
                </a:solidFill>
                <a:latin typeface="Segoe UI"/>
              </a:defRPr>
            </a:pPr>
            <a:r>
              <a:t>Takeaway: PC1 + PC2 retain &gt;65% information across atmospheric telemetry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023360"/>
            <a:ext cx="51663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4096512"/>
            <a:ext cx="48737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2D Orthogonal Projection (PC1 vs. PC2)</a:t>
            </a:r>
          </a:p>
        </p:txBody>
      </p:sp>
      <p:pic>
        <p:nvPicPr>
          <p:cNvPr id="20" name="Picture 19" descr="pca_projection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4389120"/>
            <a:ext cx="4910328" cy="168249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391656" y="6108192"/>
            <a:ext cx="4910328" cy="219456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>
                <a:solidFill>
                  <a:srgbClr val="2563EB"/>
                </a:solidFill>
                <a:latin typeface="Segoe UI"/>
              </a:defRPr>
            </a:pPr>
            <a:r>
              <a:t>Takeaway: High-dimensional weather interactions mapped cleanly onto 2 axes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MODEL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Model Diagnostic Curves (Learning &amp; Validation Analysis)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Empirical verification of sample sufficiency and hyperparameter capacity optimization.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02920"/>
            <a:ext cx="1858975" cy="384048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DIAGNOSTICS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6636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73352"/>
            <a:ext cx="1508760" cy="219456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11D48"/>
                </a:solidFill>
                <a:latin typeface="Segoe UI"/>
              </a:defRPr>
            </a:pPr>
            <a:r>
              <a:t>BIAS - VARIANCE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47672"/>
            <a:ext cx="4709160" cy="4315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Empirical Bias-Variance Diagnostics</a:t>
            </a:r>
          </a:p>
          <a:p>
            <a:pPr>
              <a:spcAft>
                <a:spcPts val="500"/>
              </a:spcAft>
              <a:defRPr sz="950">
                <a:latin typeface="Segoe UI"/>
              </a:defRPr>
            </a:pPr>
            <a:r>
              <a:rPr sz="750" b="1">
                <a:solidFill>
                  <a:srgbClr val="E11D48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Learning Curve Diagnostics: </a:t>
            </a:r>
            <a:r>
              <a:rPr>
                <a:solidFill>
                  <a:srgbClr val="334155"/>
                </a:solidFill>
              </a:rPr>
              <a:t>Plots Training Score vs. Validation Score as sample size N expands from 400 to 4,000 instances.</a:t>
            </a:r>
          </a:p>
          <a:p>
            <a:pPr>
              <a:spcAft>
                <a:spcPts val="500"/>
              </a:spcAft>
              <a:defRPr sz="950">
                <a:latin typeface="Segoe UI"/>
              </a:defRPr>
            </a:pPr>
            <a:r>
              <a:rPr sz="750" b="1">
                <a:solidFill>
                  <a:srgbClr val="E11D48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Generalization Gap Convergence: </a:t>
            </a:r>
            <a:r>
              <a:rPr>
                <a:solidFill>
                  <a:srgbClr val="334155"/>
                </a:solidFill>
              </a:rPr>
              <a:t>Generalization gap Δ(N) = S_train(N) - S_val(N) shrinks from 13.6% down to 1.4%, proving zero data scarcity.</a:t>
            </a:r>
          </a:p>
          <a:p>
            <a:pPr>
              <a:spcAft>
                <a:spcPts val="500"/>
              </a:spcAft>
              <a:defRPr sz="950">
                <a:latin typeface="Segoe UI"/>
              </a:defRPr>
            </a:pPr>
            <a:r>
              <a:rPr sz="750" b="1">
                <a:solidFill>
                  <a:srgbClr val="E11D48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Capacity Validation Curve: </a:t>
            </a:r>
            <a:r>
              <a:rPr>
                <a:solidFill>
                  <a:srgbClr val="334155"/>
                </a:solidFill>
              </a:rPr>
              <a:t>Evaluates model accuracy against hyperparameter tree depth (max_depth 2 to 14).</a:t>
            </a:r>
          </a:p>
          <a:p>
            <a:pPr>
              <a:spcAft>
                <a:spcPts val="500"/>
              </a:spcAft>
              <a:defRPr sz="950">
                <a:latin typeface="Segoe UI"/>
              </a:defRPr>
            </a:pPr>
            <a:r>
              <a:rPr sz="750" b="1">
                <a:solidFill>
                  <a:srgbClr val="E11D48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1. Underfitting Regime (Depth &lt; 4): </a:t>
            </a:r>
            <a:r>
              <a:rPr>
                <a:solidFill>
                  <a:srgbClr val="334155"/>
                </a:solidFill>
              </a:rPr>
              <a:t>High Bias: Shallow tree lacks capacity to capture non-linear weather and road interactions.</a:t>
            </a:r>
          </a:p>
          <a:p>
            <a:pPr>
              <a:spcAft>
                <a:spcPts val="500"/>
              </a:spcAft>
              <a:defRPr sz="950">
                <a:latin typeface="Segoe UI"/>
              </a:defRPr>
            </a:pPr>
            <a:r>
              <a:rPr sz="750" b="1">
                <a:solidFill>
                  <a:srgbClr val="E11D48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2. Optimal Capacity (Depth* = 6): </a:t>
            </a:r>
            <a:r>
              <a:rPr>
                <a:solidFill>
                  <a:srgbClr val="334155"/>
                </a:solidFill>
              </a:rPr>
              <a:t>Peak Generalization: Validation accuracy reaches its maximum of 56.7% with minimal generalization gap.</a:t>
            </a:r>
          </a:p>
          <a:p>
            <a:pPr>
              <a:spcAft>
                <a:spcPts val="500"/>
              </a:spcAft>
              <a:defRPr sz="950">
                <a:latin typeface="Segoe UI"/>
              </a:defRPr>
            </a:pPr>
            <a:r>
              <a:rPr sz="750" b="1">
                <a:solidFill>
                  <a:srgbClr val="E11D48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3. Overfitting Regime (Depth &gt; 8): </a:t>
            </a:r>
            <a:r>
              <a:rPr>
                <a:solidFill>
                  <a:srgbClr val="334155"/>
                </a:solidFill>
              </a:rPr>
              <a:t>High Variance: Training score climbs to 82% while validation score plummets, memorizing noise.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1663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581912"/>
            <a:ext cx="48737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Empirical Learning Curve (Sample Size N vs. Score)</a:t>
            </a:r>
          </a:p>
        </p:txBody>
      </p:sp>
      <p:pic>
        <p:nvPicPr>
          <p:cNvPr id="13" name="Picture 12" descr="diagnostic_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874520"/>
            <a:ext cx="4910328" cy="168249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91656" y="3593592"/>
            <a:ext cx="4910328" cy="219456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>
                <a:solidFill>
                  <a:srgbClr val="2563EB"/>
                </a:solidFill>
                <a:latin typeface="Segoe UI"/>
              </a:defRPr>
            </a:pPr>
            <a:r>
              <a:t>Takeaway: Generalization gap Δ converges to 1.4% as sample size increases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023360"/>
            <a:ext cx="51663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4096512"/>
            <a:ext cx="48737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Capacity Validation Curve (Tree Depth vs. Score)</a:t>
            </a:r>
          </a:p>
        </p:txBody>
      </p:sp>
      <p:pic>
        <p:nvPicPr>
          <p:cNvPr id="17" name="Picture 16" descr="diagnostic_validation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4389120"/>
            <a:ext cx="4910328" cy="168249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391656" y="6108192"/>
            <a:ext cx="4910328" cy="219456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>
                <a:solidFill>
                  <a:srgbClr val="2563EB"/>
                </a:solidFill>
                <a:latin typeface="Segoe UI"/>
              </a:defRPr>
            </a:pPr>
            <a:r>
              <a:t>Takeaway: Identifies optimal depth* = 6, avoiding underfitting and overfitting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SYSTEM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Interactive Web Application &amp; Real-Time 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Full-stack Flask production architecture with live inference and responsive telemetry visualization.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02920"/>
            <a:ext cx="1858975" cy="384048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LIVE WEB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6636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73352"/>
            <a:ext cx="1005840" cy="219456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47672"/>
            <a:ext cx="4709160" cy="4315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Full-Stack Web Architecture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Flask Application Core: </a:t>
            </a:r>
            <a:r>
              <a:rPr>
                <a:solidFill>
                  <a:srgbClr val="334155"/>
                </a:solidFill>
              </a:rPr>
              <a:t>Modular Python backend with clean REST API routes, Jinja2 template inheritance, and asynchronous JSON responses.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Real-Time Prediction Engine: </a:t>
            </a:r>
            <a:r>
              <a:rPr>
                <a:solidFill>
                  <a:srgbClr val="334155"/>
                </a:solidFill>
              </a:rPr>
              <a:t>Loads serialized Scikit-Learn pipeline artifacts (.pkl) to produce instant severity risk probabilities.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1-Click Scenario Presets: </a:t>
            </a:r>
            <a:r>
              <a:rPr>
                <a:solidFill>
                  <a:srgbClr val="334155"/>
                </a:solidFill>
              </a:rPr>
              <a:t>Interactive UI presets (Stormy Night, Sunny Afternoon, Freezing Fog, Rush Hour) for live viva demonstration.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High-Contrast Projector Mode: </a:t>
            </a:r>
            <a:r>
              <a:rPr>
                <a:solidFill>
                  <a:srgbClr val="334155"/>
                </a:solidFill>
              </a:rPr>
              <a:t>Optimized CSS design with high-contrast data tables, crisp typography, and responsive chart viewports.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Dataset Export: </a:t>
            </a:r>
            <a:r>
              <a:rPr>
                <a:solidFill>
                  <a:srgbClr val="334155"/>
                </a:solidFill>
              </a:rPr>
              <a:t>Direct one-click download of the complete preprocessed 100k accident CSV dataset for evaluation.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166360" cy="48920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5166360" cy="3474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91656" y="1618488"/>
            <a:ext cx="109728" cy="109728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56248" y="1618488"/>
            <a:ext cx="109728" cy="10972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20840" y="161848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0" y="1563624"/>
            <a:ext cx="4251960" cy="23774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http://127.0.0.1:5000/decision-trees  •  RoadSafety Live Studio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3368" y="1929384"/>
            <a:ext cx="4946904" cy="437997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570732"/>
            <a:ext cx="4617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📸 PASTE LIVE APP SCREENSHOT HERE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Web Studio Decision Trees &amp; Live Predictor</a:t>
            </a:r>
            <a:br/>
            <a:r>
              <a:t>(Select this dashed frame in PowerPoint and press Ctrl+V to paste your screenshot)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Conclusions &amp; Future Research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Comprehensive delivery of project objectives, civil engineering takeaways, and future roadmap.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02920"/>
            <a:ext cx="1858975" cy="384048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16636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73352"/>
            <a:ext cx="1207008" cy="219456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DELIVERABLES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47672"/>
            <a:ext cx="4709160" cy="4315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Core Project Findings &amp; Contributions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10B981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End-to-End Pipeline Delivery: </a:t>
            </a:r>
            <a:r>
              <a:rPr>
                <a:solidFill>
                  <a:srgbClr val="334155"/>
                </a:solidFill>
              </a:rPr>
              <a:t>Designed, evaluated, and deployed a production ML framework analyzing 100,000 real-world highway incidents.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10B981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Methodological Rigor: </a:t>
            </a:r>
            <a:r>
              <a:rPr>
                <a:solidFill>
                  <a:srgbClr val="334155"/>
                </a:solidFill>
              </a:rPr>
              <a:t>Three-way disjoint partitioning (70/15/15) completely prevented data and evaluation leakage.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10B981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Ensemble Supremacy: </a:t>
            </a:r>
            <a:r>
              <a:rPr>
                <a:solidFill>
                  <a:srgbClr val="334155"/>
                </a:solidFill>
              </a:rPr>
              <a:t>Ensemble methods (Random Forest, Gradient Boosting) outperformed single unpruned decision trees on severe crash recall.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10B981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Key Risk Multiplier: </a:t>
            </a:r>
            <a:r>
              <a:rPr>
                <a:solidFill>
                  <a:srgbClr val="334155"/>
                </a:solidFill>
              </a:rPr>
              <a:t>Adverse weather combined with highway junctions represents the single largest collision severity driver.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10B981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Empirical Soundness: </a:t>
            </a:r>
            <a:r>
              <a:rPr>
                <a:solidFill>
                  <a:srgbClr val="334155"/>
                </a:solidFill>
              </a:rPr>
              <a:t>Diagnostic curves verified model capacity (depth* = 6) and confirmed zero sample scarcity.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16636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1673352"/>
            <a:ext cx="1207008" cy="219456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47672"/>
            <a:ext cx="4709160" cy="4315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Future Enhancements &amp; Research Scope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IoT Telemetry Streaming: </a:t>
            </a:r>
            <a:r>
              <a:rPr>
                <a:solidFill>
                  <a:srgbClr val="334155"/>
                </a:solidFill>
              </a:rPr>
              <a:t>Ingest real-time roadside telemetry from smart poles and Connected Vehicle (V2X) On-Board Units.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Deep Learning Architectures: </a:t>
            </a:r>
            <a:r>
              <a:rPr>
                <a:solidFill>
                  <a:srgbClr val="334155"/>
                </a:solidFill>
              </a:rPr>
              <a:t>Deploy 1D Temporal CNNs for weather sensor time-series and Graph Neural Networks (GNNs) for highway topologies.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Dynamic Ambulance Dispatch: </a:t>
            </a:r>
            <a:r>
              <a:rPr>
                <a:solidFill>
                  <a:srgbClr val="334155"/>
                </a:solidFill>
              </a:rPr>
              <a:t>Couple severity predictions with Dijkstra / A* route optimization for rapid EMS vehicle dispatch.</a:t>
            </a:r>
          </a:p>
          <a:p>
            <a:pPr>
              <a:spcAft>
                <a:spcPts val="700"/>
              </a:spcAft>
              <a:defRPr sz="1000">
                <a:latin typeface="Segoe UI"/>
              </a:defRPr>
            </a:pPr>
            <a:r>
              <a:rPr sz="750" b="1">
                <a:solidFill>
                  <a:srgbClr val="2563EB"/>
                </a:solidFill>
              </a:rPr>
              <a:t>● </a:t>
            </a:r>
            <a:r>
              <a:rPr b="1">
                <a:solidFill>
                  <a:srgbClr val="1E293B"/>
                </a:solidFill>
              </a:rPr>
              <a:t>Multi-Modal Computer Vision: </a:t>
            </a:r>
            <a:r>
              <a:rPr>
                <a:solidFill>
                  <a:srgbClr val="334155"/>
                </a:solidFill>
              </a:rPr>
              <a:t>Integrate highway CCTV feeds with telemetry models for real-time collision prevention.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